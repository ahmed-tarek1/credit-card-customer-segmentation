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37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16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Balance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Premium</c:v>
                </c:pt>
                <c:pt idx="1">
                  <c:v>Installment</c:v>
                </c:pt>
                <c:pt idx="2">
                  <c:v>Dormant</c:v>
                </c:pt>
                <c:pt idx="3">
                  <c:v>VIP</c:v>
                </c:pt>
                <c:pt idx="4">
                  <c:v>One-Time</c:v>
                </c:pt>
                <c:pt idx="5">
                  <c:v>Cash Adv.</c:v>
                </c:pt>
                <c:pt idx="6">
                  <c:v>Savers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4820</c:v>
                </c:pt>
                <c:pt idx="1">
                  <c:v>710</c:v>
                </c:pt>
                <c:pt idx="2">
                  <c:v>5480</c:v>
                </c:pt>
                <c:pt idx="3">
                  <c:v>2960</c:v>
                </c:pt>
                <c:pt idx="4">
                  <c:v>1940</c:v>
                </c:pt>
                <c:pt idx="5">
                  <c:v>3760</c:v>
                </c:pt>
                <c:pt idx="6">
                  <c:v>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AC-F346-91E5-5F97E4C13D6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Purchases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Premium</c:v>
                </c:pt>
                <c:pt idx="1">
                  <c:v>Installment</c:v>
                </c:pt>
                <c:pt idx="2">
                  <c:v>Dormant</c:v>
                </c:pt>
                <c:pt idx="3">
                  <c:v>VIP</c:v>
                </c:pt>
                <c:pt idx="4">
                  <c:v>One-Time</c:v>
                </c:pt>
                <c:pt idx="5">
                  <c:v>Cash Adv.</c:v>
                </c:pt>
                <c:pt idx="6">
                  <c:v>Savers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2740</c:v>
                </c:pt>
                <c:pt idx="1">
                  <c:v>2190</c:v>
                </c:pt>
                <c:pt idx="2">
                  <c:v>28</c:v>
                </c:pt>
                <c:pt idx="3">
                  <c:v>8740</c:v>
                </c:pt>
                <c:pt idx="4">
                  <c:v>2580</c:v>
                </c:pt>
                <c:pt idx="5">
                  <c:v>110</c:v>
                </c:pt>
                <c:pt idx="6">
                  <c:v>490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AC-F346-91E5-5F97E4C13D6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Avg Cash Advance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Premium</c:v>
                </c:pt>
                <c:pt idx="1">
                  <c:v>Installment</c:v>
                </c:pt>
                <c:pt idx="2">
                  <c:v>Dormant</c:v>
                </c:pt>
                <c:pt idx="3">
                  <c:v>VIP</c:v>
                </c:pt>
                <c:pt idx="4">
                  <c:v>One-Time</c:v>
                </c:pt>
                <c:pt idx="5">
                  <c:v>Cash Adv.</c:v>
                </c:pt>
                <c:pt idx="6">
                  <c:v>Savers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420</c:v>
                </c:pt>
                <c:pt idx="1">
                  <c:v>95</c:v>
                </c:pt>
                <c:pt idx="2">
                  <c:v>310</c:v>
                </c:pt>
                <c:pt idx="3">
                  <c:v>180</c:v>
                </c:pt>
                <c:pt idx="4">
                  <c:v>130</c:v>
                </c:pt>
                <c:pt idx="5">
                  <c:v>3840</c:v>
                </c:pt>
                <c:pt idx="6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9AC-F346-91E5-5F97E4C13D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F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F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94AFC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223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84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DFB-994F-A133-5CD26A1DF960}"/>
              </c:ext>
            </c:extLst>
          </c:dPt>
          <c:dPt>
            <c:idx val="1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DFB-994F-A133-5CD26A1DF960}"/>
              </c:ext>
            </c:extLst>
          </c:dPt>
          <c:dPt>
            <c:idx val="2"/>
            <c:bubble3D val="0"/>
            <c:spPr>
              <a:solidFill>
                <a:srgbClr val="FB92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DFB-994F-A133-5CD26A1DF960}"/>
              </c:ext>
            </c:extLst>
          </c:dPt>
          <c:dPt>
            <c:idx val="3"/>
            <c:bubble3D val="0"/>
            <c:spPr>
              <a:solidFill>
                <a:srgbClr val="F5C8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DFB-994F-A133-5CD26A1DF960}"/>
              </c:ext>
            </c:extLst>
          </c:dPt>
          <c:dPt>
            <c:idx val="4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DFB-994F-A133-5CD26A1DF960}"/>
              </c:ext>
            </c:extLst>
          </c:dPt>
          <c:dPt>
            <c:idx val="5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DFB-994F-A133-5CD26A1DF960}"/>
              </c:ext>
            </c:extLst>
          </c:dPt>
          <c:dPt>
            <c:idx val="6"/>
            <c:bubble3D val="0"/>
            <c:spPr>
              <a:solidFill>
                <a:srgbClr val="A3E6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DFB-994F-A133-5CD26A1DF96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0F6FF"/>
                      </a:solidFill>
                      <a:latin typeface="Arial"/>
                    </a:defRPr>
                  </a:pPr>
                  <a:endParaRPr lang="en-EG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DFB-994F-A133-5CD26A1DF96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0F6FF"/>
                      </a:solidFill>
                      <a:latin typeface="Arial"/>
                    </a:defRPr>
                  </a:pPr>
                  <a:endParaRPr lang="en-EG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DFB-994F-A133-5CD26A1DF96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0F6FF"/>
                      </a:solidFill>
                      <a:latin typeface="Arial"/>
                    </a:defRPr>
                  </a:pPr>
                  <a:endParaRPr lang="en-EG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DFB-994F-A133-5CD26A1DF96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0F6FF"/>
                      </a:solidFill>
                      <a:latin typeface="Arial"/>
                    </a:defRPr>
                  </a:pPr>
                  <a:endParaRPr lang="en-EG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DFB-994F-A133-5CD26A1DF96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0F6FF"/>
                      </a:solidFill>
                      <a:latin typeface="Arial"/>
                    </a:defRPr>
                  </a:pPr>
                  <a:endParaRPr lang="en-EG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DFB-994F-A133-5CD26A1DF960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0F6FF"/>
                      </a:solidFill>
                      <a:latin typeface="Arial"/>
                    </a:defRPr>
                  </a:pPr>
                  <a:endParaRPr lang="en-EG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DFB-994F-A133-5CD26A1DF960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0F6FF"/>
                      </a:solidFill>
                      <a:latin typeface="Arial"/>
                    </a:defRPr>
                  </a:pPr>
                  <a:endParaRPr lang="en-EG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DFB-994F-A133-5CD26A1DF96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EG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Premium</c:v>
                </c:pt>
                <c:pt idx="1">
                  <c:v>Installment</c:v>
                </c:pt>
                <c:pt idx="2">
                  <c:v>Dormant</c:v>
                </c:pt>
                <c:pt idx="3">
                  <c:v>VIP</c:v>
                </c:pt>
                <c:pt idx="4">
                  <c:v>One-Time</c:v>
                </c:pt>
                <c:pt idx="5">
                  <c:v>Cash Adv.</c:v>
                </c:pt>
                <c:pt idx="6">
                  <c:v>Savers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804</c:v>
                </c:pt>
                <c:pt idx="1">
                  <c:v>1786</c:v>
                </c:pt>
                <c:pt idx="2">
                  <c:v>2039</c:v>
                </c:pt>
                <c:pt idx="3">
                  <c:v>458</c:v>
                </c:pt>
                <c:pt idx="4">
                  <c:v>1066</c:v>
                </c:pt>
                <c:pt idx="5">
                  <c:v>1021</c:v>
                </c:pt>
                <c:pt idx="6">
                  <c:v>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DFB-994F-A133-5CD26A1DF9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4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FC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22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337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94360" y="2606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kern="0" spc="3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CREDIT CARD CUSTOMERS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3063240"/>
            <a:ext cx="3657600" cy="36576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594360" y="3246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GENERAL Dataset  ·  8,950 customers  ·  GMM Clustering  ·  k = 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0" y="914400"/>
            <a:ext cx="2011680" cy="73152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" name="Text 7"/>
          <p:cNvSpPr/>
          <p:nvPr/>
        </p:nvSpPr>
        <p:spPr>
          <a:xfrm>
            <a:off x="6675120" y="960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8,950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75120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675120" y="1874520"/>
            <a:ext cx="2011680" cy="73152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6675120" y="1920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2331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75120" y="2834640"/>
            <a:ext cx="2011680" cy="73152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6675120" y="28803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5120" y="3291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3794760"/>
            <a:ext cx="2011680" cy="73152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6675120" y="38404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4251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 of analysis from raw data to actionable insights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457200" cy="3657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4864" cy="6583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640080" y="11155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0607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 &amp; Preprocessing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3533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overview, quality checks, imputation, and skewness treatment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8229600" cy="658368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" name="Shape 9"/>
          <p:cNvSpPr/>
          <p:nvPr/>
        </p:nvSpPr>
        <p:spPr>
          <a:xfrm>
            <a:off x="457200" y="1773936"/>
            <a:ext cx="54864" cy="6583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640080" y="188366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Determining Optimal Clusters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1214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method, silhouette scores, GMM AIC/BIC, and t-SNE visual validation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8229600" cy="658368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Shape 14"/>
          <p:cNvSpPr/>
          <p:nvPr/>
        </p:nvSpPr>
        <p:spPr>
          <a:xfrm>
            <a:off x="457200" y="2542032"/>
            <a:ext cx="54864" cy="6583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" name="Text 15"/>
          <p:cNvSpPr/>
          <p:nvPr/>
        </p:nvSpPr>
        <p:spPr>
          <a:xfrm>
            <a:off x="640080" y="2651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25968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288950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k=7 model, cluster profiles, and named personas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10128"/>
            <a:ext cx="8229600" cy="658368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Shape 19"/>
          <p:cNvSpPr/>
          <p:nvPr/>
        </p:nvSpPr>
        <p:spPr>
          <a:xfrm>
            <a:off x="457200" y="3310128"/>
            <a:ext cx="54864" cy="6583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640080" y="34198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3364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&amp; Analysis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657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charts, heatmaps, and behavioral comparisons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78224"/>
            <a:ext cx="8229600" cy="658368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6" name="Shape 24"/>
          <p:cNvSpPr/>
          <p:nvPr/>
        </p:nvSpPr>
        <p:spPr>
          <a:xfrm>
            <a:off x="457200" y="4078224"/>
            <a:ext cx="54864" cy="6583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7" name="Text 25"/>
          <p:cNvSpPr/>
          <p:nvPr/>
        </p:nvSpPr>
        <p:spPr>
          <a:xfrm>
            <a:off x="640080" y="41879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280160" y="4133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44256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strategies, risk flags, and portfolio-level insights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Dataset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GENERAL — 8,950 credit card holders across 17 behavioral features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457200" cy="3657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920240" cy="86868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4864" cy="86868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594360" y="10332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8,950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960120"/>
            <a:ext cx="1920240" cy="86868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Shape 8"/>
          <p:cNvSpPr/>
          <p:nvPr/>
        </p:nvSpPr>
        <p:spPr>
          <a:xfrm>
            <a:off x="2606040" y="960120"/>
            <a:ext cx="54864" cy="8686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2743200" y="10332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43200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1920240" cy="86868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54864" cy="868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4892040" y="10332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92040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03720" y="960120"/>
            <a:ext cx="1920240" cy="86868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8" name="Shape 16"/>
          <p:cNvSpPr/>
          <p:nvPr/>
        </p:nvSpPr>
        <p:spPr>
          <a:xfrm>
            <a:off x="6903720" y="960120"/>
            <a:ext cx="54864" cy="868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7040880" y="10332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40880" y="1463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w/ NAs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103120"/>
            <a:ext cx="2651760" cy="1115568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Shape 20"/>
          <p:cNvSpPr/>
          <p:nvPr/>
        </p:nvSpPr>
        <p:spPr>
          <a:xfrm>
            <a:off x="457200" y="2103120"/>
            <a:ext cx="54864" cy="111556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640080" y="2194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&amp; Credit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24505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BALANCE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26517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BALANCE_FREQUENCY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28529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CREDIT_LIMIT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6865" y="2578608"/>
            <a:ext cx="2651760" cy="1463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Shape 26"/>
          <p:cNvSpPr/>
          <p:nvPr/>
        </p:nvSpPr>
        <p:spPr>
          <a:xfrm>
            <a:off x="3286416" y="2578608"/>
            <a:ext cx="54864" cy="14630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Text 27"/>
          <p:cNvSpPr/>
          <p:nvPr/>
        </p:nvSpPr>
        <p:spPr>
          <a:xfrm>
            <a:off x="3469296" y="2670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Activity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69296" y="29260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PURCHASES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69296" y="31272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ONEOFF_PURCHASES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69296" y="33284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INSTALLMENTS_PURCHASES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69296" y="352958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PURCHASES_FREQUENCY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69296" y="37307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PURCHASES_TRX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2103120"/>
            <a:ext cx="2651760" cy="1115568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6" name="Shape 34"/>
          <p:cNvSpPr/>
          <p:nvPr/>
        </p:nvSpPr>
        <p:spPr>
          <a:xfrm>
            <a:off x="6126480" y="2103120"/>
            <a:ext cx="54864" cy="11155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7" name="Text 35"/>
          <p:cNvSpPr/>
          <p:nvPr/>
        </p:nvSpPr>
        <p:spPr>
          <a:xfrm>
            <a:off x="6309360" y="2194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Advances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24505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CASH_ADVANCE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26517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CASH_ADVANCE_FREQUENCY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28529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CASH_ADVANCE_TRX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3429000"/>
            <a:ext cx="2651760" cy="1115568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2" name="Shape 40"/>
          <p:cNvSpPr/>
          <p:nvPr/>
        </p:nvSpPr>
        <p:spPr>
          <a:xfrm>
            <a:off x="457200" y="3429000"/>
            <a:ext cx="54864" cy="11155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3" name="Text 41"/>
          <p:cNvSpPr/>
          <p:nvPr/>
        </p:nvSpPr>
        <p:spPr>
          <a:xfrm>
            <a:off x="640080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37764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PAYMENTS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0080" y="3977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MINIMUM_PAYMENTS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0080" y="41788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PRC_FULL_PAYMENT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26480" y="3428471"/>
            <a:ext cx="2651760" cy="1115568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8" name="Shape 46"/>
          <p:cNvSpPr/>
          <p:nvPr/>
        </p:nvSpPr>
        <p:spPr>
          <a:xfrm>
            <a:off x="6136531" y="3428471"/>
            <a:ext cx="54864" cy="1115568"/>
          </a:xfrm>
          <a:prstGeom prst="rect">
            <a:avLst/>
          </a:prstGeom>
          <a:solidFill>
            <a:srgbClr val="6B8CAE"/>
          </a:solidFill>
          <a:ln w="12700">
            <a:solidFill>
              <a:srgbClr val="6B8CAE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9" name="Text 47"/>
          <p:cNvSpPr/>
          <p:nvPr/>
        </p:nvSpPr>
        <p:spPr>
          <a:xfrm>
            <a:off x="6309360" y="3438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Info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09360" y="36941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TENURE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2" name="Text 50"/>
          <p:cNvSpPr/>
          <p:nvPr/>
        </p:nvSpPr>
        <p:spPr>
          <a:xfrm>
            <a:off x="640080" y="45720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Missing Values:  MINIMUM_PAYMENTS → 313 missing (3.5%)   |   CREDIT_LIMIT → 1 missing (0.01%)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Data Cleaning &amp; Preprocessing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imputation, skewness treatment, and feature transformation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457200" cy="3657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16916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4864" cy="16916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CREDIT_LIMIT Imputation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missing value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568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median (3,000)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distributional impact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005840"/>
            <a:ext cx="4023360" cy="16916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Shape 11"/>
          <p:cNvSpPr/>
          <p:nvPr/>
        </p:nvSpPr>
        <p:spPr>
          <a:xfrm>
            <a:off x="4800600" y="1005840"/>
            <a:ext cx="54864" cy="16916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" name="Text 12"/>
          <p:cNvSpPr/>
          <p:nvPr/>
        </p:nvSpPr>
        <p:spPr>
          <a:xfrm>
            <a:off x="4983480" y="1097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MINIMUM_PAYMENTS Imputation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17190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 missing (~3.5%)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19568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Rule-based: max(3%×balance, 1%×limit)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1945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floor ($15/$25/$35) by credit tier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24323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balance → zero payment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4023360" cy="16916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54864" cy="16916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640080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Transformation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6393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 with extreme right skew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877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reduced: 13.8 → near-zero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1148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zero values safely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3525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Frequency/ratio cols left unchanged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926080"/>
            <a:ext cx="4023360" cy="16916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Shape 27"/>
          <p:cNvSpPr/>
          <p:nvPr/>
        </p:nvSpPr>
        <p:spPr>
          <a:xfrm>
            <a:off x="4800600" y="2926080"/>
            <a:ext cx="54864" cy="1691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0" name="Text 28"/>
          <p:cNvSpPr/>
          <p:nvPr/>
        </p:nvSpPr>
        <p:spPr>
          <a:xfrm>
            <a:off x="4983480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83480" y="3337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df_transformed Created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36393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copy of log-transformed data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3877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all clustering operations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41148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 preserved for profiling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83480" y="43525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StandardScaler applied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7" name="Text 35"/>
          <p:cNvSpPr/>
          <p:nvPr/>
        </p:nvSpPr>
        <p:spPr>
          <a:xfrm>
            <a:off x="640080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Rule-based imputation preserved the MINIMUM_PAYMENTS distribution — confirmed by before/after histogram comparison.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Key Patterns Found in the Data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distributions, correlations, and skewness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457200" cy="3657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97480" cy="171907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4864" cy="17190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594360" y="1115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Extreme Right Skew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2450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 had skewness &gt; 2. MINIMUM_PAYMENTS peaked at 13.8. Log1p transformation reduced all monetary skew to near-zero.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55848" y="1005840"/>
            <a:ext cx="2697480" cy="171907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Shape 8"/>
          <p:cNvSpPr/>
          <p:nvPr/>
        </p:nvSpPr>
        <p:spPr>
          <a:xfrm>
            <a:off x="3355848" y="1005840"/>
            <a:ext cx="54864" cy="171907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3493008" y="1115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Strong Correlations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93008" y="1463040"/>
            <a:ext cx="2450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↔ PURCHASES_TRX (r≈0.69). CASH_ADVANCE ↔ CASH_ADVANCE_TRX (r≈0.65). Confirms transaction volume drives monetary totals.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54496" y="1005840"/>
            <a:ext cx="2697480" cy="171907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" name="Shape 12"/>
          <p:cNvSpPr/>
          <p:nvPr/>
        </p:nvSpPr>
        <p:spPr>
          <a:xfrm>
            <a:off x="6254496" y="1005840"/>
            <a:ext cx="54864" cy="171907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6391656" y="1115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Bimodal Patterns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91656" y="1463040"/>
            <a:ext cx="2450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PURCHASES_FREQUENCY and PRC_FULL_PAYMENT show clear bimodal distributions — separating active vs. inactive, and full-payers vs. revolvers.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697480" cy="171907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54864" cy="171907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594360" y="30358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Two Purchase Styles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383280"/>
            <a:ext cx="2450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ONEOFF_PURCHASES and INSTALLMENTS_PURCHASES are largely uncorrelated — suggesting two behaviorally distinct buyer types in the population.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55848" y="2926080"/>
            <a:ext cx="2697480" cy="171907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Shape 20"/>
          <p:cNvSpPr/>
          <p:nvPr/>
        </p:nvSpPr>
        <p:spPr>
          <a:xfrm>
            <a:off x="3355848" y="2926080"/>
            <a:ext cx="54864" cy="17190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3493008" y="30358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Balance vs. Payment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93008" y="3383280"/>
            <a:ext cx="2450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PRC_FULL_PAYMENT negatively correlated with BALANCE — customers who fully pay each month carry significantly lower revolving balances.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54496" y="2926080"/>
            <a:ext cx="2697480" cy="171907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6" name="Shape 24"/>
          <p:cNvSpPr/>
          <p:nvPr/>
        </p:nvSpPr>
        <p:spPr>
          <a:xfrm>
            <a:off x="6254496" y="2926080"/>
            <a:ext cx="54864" cy="171907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7" name="Text 25"/>
          <p:cNvSpPr/>
          <p:nvPr/>
        </p:nvSpPr>
        <p:spPr>
          <a:xfrm>
            <a:off x="6391656" y="30358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Cash Advance Signal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91656" y="3383280"/>
            <a:ext cx="2450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notable sub-group shows near-zero purchases but high CASH_ADVANCE_FREQUENCY — a classic financial distress pattern warranting risk attention.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Determining Optimal Number of Clusters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 evaluation methods — all converging on k = 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457200" cy="3657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463040" cy="2468880"/>
          </a:xfrm>
          <a:prstGeom prst="rect">
            <a:avLst/>
          </a:prstGeom>
          <a:solidFill>
            <a:srgbClr val="0F2236"/>
          </a:solidFill>
          <a:ln w="254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kern="0" spc="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48840" y="1005840"/>
            <a:ext cx="6537960" cy="384048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" name="Shape 7"/>
          <p:cNvSpPr/>
          <p:nvPr/>
        </p:nvSpPr>
        <p:spPr>
          <a:xfrm>
            <a:off x="2148840" y="1005840"/>
            <a:ext cx="54864" cy="38404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2331720" y="10698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97480" y="10424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(KMeans WCSS)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1207008"/>
            <a:ext cx="5806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WCSS curve flattens notably at k=7 — diminishing returns beyond this point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48840" y="1463040"/>
            <a:ext cx="6537960" cy="384048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" name="Shape 12"/>
          <p:cNvSpPr/>
          <p:nvPr/>
        </p:nvSpPr>
        <p:spPr>
          <a:xfrm>
            <a:off x="2148840" y="1463040"/>
            <a:ext cx="54864" cy="3840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2331720" y="15270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97480" y="14996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— KMeans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1664208"/>
            <a:ext cx="5806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at k=7: 0.4232.  Drops to 0.39, 0.32, 0.32 at k=8, 9, 10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48840" y="1920240"/>
            <a:ext cx="6537960" cy="384048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Shape 17"/>
          <p:cNvSpPr/>
          <p:nvPr/>
        </p:nvSpPr>
        <p:spPr>
          <a:xfrm>
            <a:off x="2148840" y="1920240"/>
            <a:ext cx="54864" cy="3840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0" name="Text 18"/>
          <p:cNvSpPr/>
          <p:nvPr/>
        </p:nvSpPr>
        <p:spPr>
          <a:xfrm>
            <a:off x="2331720" y="19842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97480" y="19568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— BIC Criterion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2121408"/>
            <a:ext cx="5806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plateaus at k=7 — adding components increases complexity without reward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48840" y="2377440"/>
            <a:ext cx="6537960" cy="384048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2148840" y="2377440"/>
            <a:ext cx="54864" cy="38404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2331720" y="24414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97480" y="24140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— GMM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97480" y="2578608"/>
            <a:ext cx="5806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at k=7: 0.4392 — highest score across both algorithms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48840" y="2834640"/>
            <a:ext cx="6537960" cy="384048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Shape 27"/>
          <p:cNvSpPr/>
          <p:nvPr/>
        </p:nvSpPr>
        <p:spPr>
          <a:xfrm>
            <a:off x="2148840" y="2834640"/>
            <a:ext cx="54864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0" name="Text 28"/>
          <p:cNvSpPr/>
          <p:nvPr/>
        </p:nvSpPr>
        <p:spPr>
          <a:xfrm>
            <a:off x="2331720" y="28986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97480" y="28712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Visual Inspection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97480" y="3035808"/>
            <a:ext cx="5806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cloud separation is clearest at k=7 for both KMeans and GMM projections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148840" y="3383280"/>
            <a:ext cx="6537960" cy="150876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4" name="Shape 32"/>
          <p:cNvSpPr/>
          <p:nvPr/>
        </p:nvSpPr>
        <p:spPr>
          <a:xfrm>
            <a:off x="2148840" y="3383280"/>
            <a:ext cx="54864" cy="15087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5" name="Text 33"/>
          <p:cNvSpPr/>
          <p:nvPr/>
        </p:nvSpPr>
        <p:spPr>
          <a:xfrm>
            <a:off x="2331720" y="345643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GMM Over KMeans?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331720" y="37673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probabilistic assignments better reflect the gradual transitions between customer types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331720" y="409651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higher silhouette score (0.4392 vs 0.4232) — better-defined, more cohesive clusters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331720" y="442569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elliptical cluster shapes, more realistic for multi-dimensional behavioural data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The 7 Customer Segments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k=7 — 8,950 customers grouped into distinct behavioral archetypes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457200" cy="3657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011680" cy="178308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011680" cy="54864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804 customers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181965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Spenders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331720"/>
            <a:ext cx="1554480" cy="237744"/>
          </a:xfrm>
          <a:prstGeom prst="rect">
            <a:avLst/>
          </a:prstGeom>
          <a:solidFill>
            <a:srgbClr val="1A3550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33472" y="960120"/>
            <a:ext cx="2011680" cy="178308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Shape 11"/>
          <p:cNvSpPr/>
          <p:nvPr/>
        </p:nvSpPr>
        <p:spPr>
          <a:xfrm>
            <a:off x="2633472" y="960120"/>
            <a:ext cx="201168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" name="Text 12"/>
          <p:cNvSpPr/>
          <p:nvPr/>
        </p:nvSpPr>
        <p:spPr>
          <a:xfrm>
            <a:off x="2633472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633472" y="1581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1,786 customers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06624" y="181965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 Buyers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62072" y="2331720"/>
            <a:ext cx="1554480" cy="237744"/>
          </a:xfrm>
          <a:prstGeom prst="rect">
            <a:avLst/>
          </a:prstGeom>
          <a:solidFill>
            <a:srgbClr val="1A3550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8" name="Text 16"/>
          <p:cNvSpPr/>
          <p:nvPr/>
        </p:nvSpPr>
        <p:spPr>
          <a:xfrm>
            <a:off x="2862072" y="23317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9744" y="960120"/>
            <a:ext cx="2011680" cy="178308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0" name="Shape 18"/>
          <p:cNvSpPr/>
          <p:nvPr/>
        </p:nvSpPr>
        <p:spPr>
          <a:xfrm>
            <a:off x="4809744" y="960120"/>
            <a:ext cx="201168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Text 19"/>
          <p:cNvSpPr/>
          <p:nvPr/>
        </p:nvSpPr>
        <p:spPr>
          <a:xfrm>
            <a:off x="4809744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809744" y="1581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2,039 customers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82896" y="181965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Revolvers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38344" y="2331720"/>
            <a:ext cx="1554480" cy="237744"/>
          </a:xfrm>
          <a:prstGeom prst="rect">
            <a:avLst/>
          </a:prstGeom>
          <a:solidFill>
            <a:srgbClr val="1A3550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5038344" y="23317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86016" y="960120"/>
            <a:ext cx="2011680" cy="178308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7" name="Shape 25"/>
          <p:cNvSpPr/>
          <p:nvPr/>
        </p:nvSpPr>
        <p:spPr>
          <a:xfrm>
            <a:off x="6986016" y="960120"/>
            <a:ext cx="201168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Text 26"/>
          <p:cNvSpPr/>
          <p:nvPr/>
        </p:nvSpPr>
        <p:spPr>
          <a:xfrm>
            <a:off x="6986016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986016" y="1581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458 customers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59168" y="181965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High-Value Shoppers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14616" y="2331720"/>
            <a:ext cx="1554480" cy="237744"/>
          </a:xfrm>
          <a:prstGeom prst="rect">
            <a:avLst/>
          </a:prstGeom>
          <a:solidFill>
            <a:srgbClr val="1A3550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2" name="Text 30"/>
          <p:cNvSpPr/>
          <p:nvPr/>
        </p:nvSpPr>
        <p:spPr>
          <a:xfrm>
            <a:off x="7214616" y="23317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063240"/>
            <a:ext cx="2011680" cy="178308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4" name="Shape 32"/>
          <p:cNvSpPr/>
          <p:nvPr/>
        </p:nvSpPr>
        <p:spPr>
          <a:xfrm>
            <a:off x="457200" y="3063240"/>
            <a:ext cx="201168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5" name="Text 33"/>
          <p:cNvSpPr/>
          <p:nvPr/>
        </p:nvSpPr>
        <p:spPr>
          <a:xfrm>
            <a:off x="45720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57200" y="36850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1,066 customers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0352" y="392277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Shoppers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5800" y="4434840"/>
            <a:ext cx="1554480" cy="237744"/>
          </a:xfrm>
          <a:prstGeom prst="rect">
            <a:avLst/>
          </a:prstGeom>
          <a:solidFill>
            <a:srgbClr val="1A3550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9" name="Text 37"/>
          <p:cNvSpPr/>
          <p:nvPr/>
        </p:nvSpPr>
        <p:spPr>
          <a:xfrm>
            <a:off x="685800" y="44348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633472" y="3063240"/>
            <a:ext cx="2011680" cy="178308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1" name="Shape 39"/>
          <p:cNvSpPr/>
          <p:nvPr/>
        </p:nvSpPr>
        <p:spPr>
          <a:xfrm>
            <a:off x="2633472" y="3063240"/>
            <a:ext cx="201168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2" name="Text 40"/>
          <p:cNvSpPr/>
          <p:nvPr/>
        </p:nvSpPr>
        <p:spPr>
          <a:xfrm>
            <a:off x="2633472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2633472" y="36850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1,021 customers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06624" y="392277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Advance Dependent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862072" y="4434840"/>
            <a:ext cx="1554480" cy="237744"/>
          </a:xfrm>
          <a:prstGeom prst="rect">
            <a:avLst/>
          </a:prstGeom>
          <a:solidFill>
            <a:srgbClr val="1A3550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6" name="Text 44"/>
          <p:cNvSpPr/>
          <p:nvPr/>
        </p:nvSpPr>
        <p:spPr>
          <a:xfrm>
            <a:off x="2862072" y="44348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Risk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09744" y="3063240"/>
            <a:ext cx="2011680" cy="178308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8" name="Shape 46"/>
          <p:cNvSpPr/>
          <p:nvPr/>
        </p:nvSpPr>
        <p:spPr>
          <a:xfrm>
            <a:off x="4809744" y="3063240"/>
            <a:ext cx="2011680" cy="5486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9" name="Text 47"/>
          <p:cNvSpPr/>
          <p:nvPr/>
        </p:nvSpPr>
        <p:spPr>
          <a:xfrm>
            <a:off x="4809744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8.7%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4809744" y="36850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776 customers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82896" y="392277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Low-Activity Savers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038344" y="4434840"/>
            <a:ext cx="1554480" cy="237744"/>
          </a:xfrm>
          <a:prstGeom prst="rect">
            <a:avLst/>
          </a:prstGeom>
          <a:solidFill>
            <a:srgbClr val="1A3550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3" name="Text 51"/>
          <p:cNvSpPr/>
          <p:nvPr/>
        </p:nvSpPr>
        <p:spPr>
          <a:xfrm>
            <a:off x="5038344" y="44348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Risk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Profile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Spenders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804 customers  ·  9% of portfolio  ·  Risk: Medium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274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balance, large one-off purchases, above-average credit limit.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56692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$4,820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Balance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340156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$2,740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0156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623620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3620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Advance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56692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$8,900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Limit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340156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0156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Pay 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623620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3620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54864" cy="169164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Text 27"/>
          <p:cNvSpPr/>
          <p:nvPr/>
        </p:nvSpPr>
        <p:spPr>
          <a:xfrm>
            <a:off x="640080" y="33192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63931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balance-to-limit ratio for default risk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40233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balance transfer promos at competitive rates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44074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large one-off purchases with bonus points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Profile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 Buyers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1,786 customers  ·  20% of portfolio  ·  Risk: Low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274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balance, regular buyers who strongly prefer installment purchases.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56692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Balance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340156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$2,190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0156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623620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3620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Advance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56692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Limit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340156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0156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Pay 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623620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3620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54864" cy="16916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Text 27"/>
          <p:cNvSpPr/>
          <p:nvPr/>
        </p:nvSpPr>
        <p:spPr>
          <a:xfrm>
            <a:off x="640080" y="33192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63931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0% installment offers on large purchases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40233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electronics &amp; appliance retailers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44074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flexible EMI / buy-now-pay-later options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Profile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Revolvers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2,039 customers  ·  22.8% of portfolio  ·  Risk: High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274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balance, virtually zero purchases — carrying old revolving debt.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56692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$5,480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Balance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340156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0156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623620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3620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Advance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56692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$5,900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Limit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340156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0156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Pay 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623620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3620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54864" cy="16916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Text 27"/>
          <p:cNvSpPr/>
          <p:nvPr/>
        </p:nvSpPr>
        <p:spPr>
          <a:xfrm>
            <a:off x="640080" y="33192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63931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debt restructuring plans to stabilise risk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40233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'fresh start' reduced-APR incentive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44074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accounts above threshold for proactive outreach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Profile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High-Value Shoppers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458 customers  ·  5.1% of portfolio  ·  Risk: Low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274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purchases, highest credit limits, most frequent transactions, best full-payment rate.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56692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$2,960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Balance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340156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$8,740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0156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623620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3620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Advance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56692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$12,400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Limit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340156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0156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Pay 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623620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3620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54864" cy="16916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Text 27"/>
          <p:cNvSpPr/>
          <p:nvPr/>
        </p:nvSpPr>
        <p:spPr>
          <a:xfrm>
            <a:off x="640080" y="33192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63931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in premium rewards program (travel, cashback)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40233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offer credit limit upgrades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44074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dedicated concierge support to prevent churn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Profile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Shoppers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1,066 customers  ·  11.9% of portfolio  ·  Risk: Low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274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balance, infrequent but large single one-off purchases.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56692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$1,940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Balance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340156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$2,580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0156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623620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3620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Advance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56692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$5,200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Limit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340156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0156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Pay 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623620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3620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54864" cy="16916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Text 27"/>
          <p:cNvSpPr/>
          <p:nvPr/>
        </p:nvSpPr>
        <p:spPr>
          <a:xfrm>
            <a:off x="640080" y="33192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63931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seasonal reactivation campaigns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40233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limited-time cashback to trigger next transaction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44074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purchase categories for personalised recommendations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Profile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Advance Dependent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1,021 customers  ·  11.4% of portfolio  ·  Risk: Very High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274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Risk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purchases, heavy cash advance reliance — a financial distress signal.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56692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$3,760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Balance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340156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0156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623620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$3,840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3620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Advance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56692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$5,100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Limit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340156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0156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Pay 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623620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3620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54864" cy="1691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Text 27"/>
          <p:cNvSpPr/>
          <p:nvPr/>
        </p:nvSpPr>
        <p:spPr>
          <a:xfrm>
            <a:off x="640080" y="33192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63931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enhanced credit monitoring &amp; early warnings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40233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personal loan alternatives at lower rates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44074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increase credit limits without careful review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" name="Text 2"/>
          <p:cNvSpPr/>
          <p:nvPr/>
        </p:nvSpPr>
        <p:spPr>
          <a:xfrm>
            <a:off x="457200" y="73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Profile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Low-Activity Savers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776 customers  ·  8.7% of portfolio  ·  Risk: Very Low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274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Risk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balance, minimal spending, lower credit limit, but excellent payment discipline.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56692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Balance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340156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0156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6236208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36208" y="18745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Advance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56692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Limit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340156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0156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Pay 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2286000"/>
            <a:ext cx="2606040" cy="713232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623620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36208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46120"/>
            <a:ext cx="8229600" cy="16916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54864" cy="169164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Text 27"/>
          <p:cNvSpPr/>
          <p:nvPr/>
        </p:nvSpPr>
        <p:spPr>
          <a:xfrm>
            <a:off x="640080" y="33192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63931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payment discipline with a credit limit upgrade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40233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entry-level cashback campaigns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44074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savings accounts or personal loans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Behavioral Comparison Across Segments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balance, purchases, and cash advances — original scale ($)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457200" cy="3657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983209221"/>
              </p:ext>
            </p:extLst>
          </p:nvPr>
        </p:nvGraphicFramePr>
        <p:xfrm>
          <a:off x="365760" y="1005840"/>
          <a:ext cx="8412480" cy="3758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Shoppers dominate Purchases  ·  Dormant Revolvers carry the highest Balance  ·  Cash Advance Dependent show near-zero purchasing activity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Segment Size &amp; Payment Behavior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distribution and full-payment rates by segment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457200" cy="3657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997943146"/>
              </p:ext>
            </p:extLst>
          </p:nvPr>
        </p:nvGraphicFramePr>
        <p:xfrm>
          <a:off x="365760" y="1005840"/>
          <a:ext cx="4114800" cy="3758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Payment Rate by Segment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885650" y="1353312"/>
            <a:ext cx="10064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824199" y="1371600"/>
            <a:ext cx="2685011" cy="23774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" name="Shape 6"/>
          <p:cNvSpPr/>
          <p:nvPr/>
        </p:nvSpPr>
        <p:spPr>
          <a:xfrm>
            <a:off x="5824199" y="1371600"/>
            <a:ext cx="2255409" cy="23774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Text 7"/>
          <p:cNvSpPr/>
          <p:nvPr/>
        </p:nvSpPr>
        <p:spPr>
          <a:xfrm>
            <a:off x="8695835" y="13670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85650" y="1828800"/>
            <a:ext cx="10064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Savers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24199" y="1847088"/>
            <a:ext cx="2685011" cy="23774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Shape 10"/>
          <p:cNvSpPr/>
          <p:nvPr/>
        </p:nvSpPr>
        <p:spPr>
          <a:xfrm>
            <a:off x="5824198" y="1847088"/>
            <a:ext cx="1664707" cy="23774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" name="Text 11"/>
          <p:cNvSpPr/>
          <p:nvPr/>
        </p:nvSpPr>
        <p:spPr>
          <a:xfrm>
            <a:off x="8695835" y="18425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85650" y="2304288"/>
            <a:ext cx="10064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24199" y="2322576"/>
            <a:ext cx="2685011" cy="23774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" name="Shape 14"/>
          <p:cNvSpPr/>
          <p:nvPr/>
        </p:nvSpPr>
        <p:spPr>
          <a:xfrm>
            <a:off x="5824199" y="2322576"/>
            <a:ext cx="966604" cy="237744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8" name="Text 15"/>
          <p:cNvSpPr/>
          <p:nvPr/>
        </p:nvSpPr>
        <p:spPr>
          <a:xfrm>
            <a:off x="8695835" y="23180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85650" y="2779776"/>
            <a:ext cx="10064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24199" y="2798064"/>
            <a:ext cx="2685011" cy="23774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Shape 18"/>
          <p:cNvSpPr/>
          <p:nvPr/>
        </p:nvSpPr>
        <p:spPr>
          <a:xfrm>
            <a:off x="5824198" y="2798064"/>
            <a:ext cx="805503" cy="23774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Text 19"/>
          <p:cNvSpPr/>
          <p:nvPr/>
        </p:nvSpPr>
        <p:spPr>
          <a:xfrm>
            <a:off x="8695835" y="27934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885650" y="3255264"/>
            <a:ext cx="10064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824199" y="3273552"/>
            <a:ext cx="2685011" cy="23774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Shape 22"/>
          <p:cNvSpPr/>
          <p:nvPr/>
        </p:nvSpPr>
        <p:spPr>
          <a:xfrm>
            <a:off x="5824199" y="3273552"/>
            <a:ext cx="644403" cy="23774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6" name="Text 23"/>
          <p:cNvSpPr/>
          <p:nvPr/>
        </p:nvSpPr>
        <p:spPr>
          <a:xfrm>
            <a:off x="8695835" y="32689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885650" y="3730752"/>
            <a:ext cx="10064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Adv.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824199" y="3749040"/>
            <a:ext cx="2685011" cy="23774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Shape 26"/>
          <p:cNvSpPr/>
          <p:nvPr/>
        </p:nvSpPr>
        <p:spPr>
          <a:xfrm>
            <a:off x="5824199" y="3749040"/>
            <a:ext cx="268501" cy="23774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0" name="Text 27"/>
          <p:cNvSpPr/>
          <p:nvPr/>
        </p:nvSpPr>
        <p:spPr>
          <a:xfrm>
            <a:off x="8695835" y="37444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885650" y="4206240"/>
            <a:ext cx="10064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824199" y="4224528"/>
            <a:ext cx="2685011" cy="237744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3" name="Shape 30"/>
          <p:cNvSpPr/>
          <p:nvPr/>
        </p:nvSpPr>
        <p:spPr>
          <a:xfrm>
            <a:off x="5824199" y="4224528"/>
            <a:ext cx="161100" cy="23774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4" name="Text 31"/>
          <p:cNvSpPr/>
          <p:nvPr/>
        </p:nvSpPr>
        <p:spPr>
          <a:xfrm>
            <a:off x="8695835" y="42199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6" name="Text 3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Revolvers (23%) are the largest segment  ·  VIP Shoppers (5%) have the highest full-payment rate at 42%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Behavioral Fingerprint Heatmap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cluster means [0=min, 1=max] — reveals what makes each segment distinct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457200" cy="3657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149906"/>
              </p:ext>
            </p:extLst>
          </p:nvPr>
        </p:nvGraphicFramePr>
        <p:xfrm>
          <a:off x="365760" y="1078992"/>
          <a:ext cx="8321042" cy="3575304"/>
        </p:xfrm>
        <a:graphic>
          <a:graphicData uri="http://schemas.openxmlformats.org/drawingml/2006/table">
            <a:tbl>
              <a:tblPr/>
              <a:tblGrid>
                <a:gridCol w="1242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1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1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1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1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12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12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12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72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5C842"/>
                          </a:solidFill>
                        </a:rPr>
                        <a:t>Feature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84FC"/>
                          </a:solidFill>
                        </a:rPr>
                        <a:t>Premium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</a:rPr>
                        <a:t>Installment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B923C"/>
                          </a:solidFill>
                        </a:rPr>
                        <a:t>Dormant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5C842"/>
                          </a:solidFill>
                        </a:rPr>
                        <a:t>VIP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</a:rPr>
                        <a:t>One-Time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87171"/>
                          </a:solidFill>
                        </a:rPr>
                        <a:t>Cash Adv.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A3E635"/>
                          </a:solidFill>
                        </a:rPr>
                        <a:t>Savers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4AFC8"/>
                          </a:solidFill>
                        </a:rPr>
                        <a:t>Balance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0.88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38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0.06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38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0.50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D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0.29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0.67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C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4AFC8"/>
                          </a:solidFill>
                        </a:rPr>
                        <a:t>Purchases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0.30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0.24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38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0.28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0.05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4AFC8"/>
                          </a:solidFill>
                        </a:rPr>
                        <a:t>Cash Adv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38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4AFC8"/>
                          </a:solidFill>
                        </a:rPr>
                        <a:t>Credit Lim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0.63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C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0.16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0.32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38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0.24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0.24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4AFC8"/>
                          </a:solidFill>
                        </a:rPr>
                        <a:t>Payments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0.33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0.21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0.07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38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0.24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0.19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0.05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4AFC8"/>
                          </a:solidFill>
                        </a:rPr>
                        <a:t>Full Pay%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0.33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0.21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38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0.29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0.10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0.71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C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4AFC8"/>
                          </a:solidFill>
                        </a:rPr>
                        <a:t>Purch Freq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0.64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C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0.92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38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38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0.23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0.05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0.18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4AFC8"/>
                          </a:solidFill>
                        </a:rPr>
                        <a:t>Cash Freq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0.22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0.10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0.30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38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8CAE"/>
                          </a:solidFill>
                        </a:rPr>
                        <a:t>0.05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9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Text 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🟥 High  🟧 Medium  🟨 Low-Medium  ⬛ Low  |  Dormant Revolvers = pure Balance  ·  Cash Adv. Dep. = pure Cash usage  ·  VIP = high across all positive metrics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Portfolio-Level Business Insights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strategic conclusions from the segmentation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457200" cy="3657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694944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4864" cy="69494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640080" y="10789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0607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335024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Shoppers (~5%) likely generate a disproportionate share of interchange and fee revenue. Losing even a small fraction has outsized financial impact — retention is critical.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8229600" cy="694944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54864" cy="69494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640080" y="18836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18653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Concentration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13969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Advance Dependent (11%) and Dormant Revolvers (23%) together represent ~34% of the portfolio. Active monitoring and early intervention programmes are essential.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15184"/>
            <a:ext cx="8229600" cy="694944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54864" cy="69494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" name="Text 15"/>
          <p:cNvSpPr/>
          <p:nvPr/>
        </p:nvSpPr>
        <p:spPr>
          <a:xfrm>
            <a:off x="640080" y="268833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2670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Opportunity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294436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 Buyers (20%) and Low-Activity Savers (9%) are low-risk with strong payment discipline. Targeted engagement can convert them into higher-value, higher-spend customers.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19856"/>
            <a:ext cx="8229600" cy="694944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Shape 19"/>
          <p:cNvSpPr/>
          <p:nvPr/>
        </p:nvSpPr>
        <p:spPr>
          <a:xfrm>
            <a:off x="457200" y="3419856"/>
            <a:ext cx="54864" cy="69494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640080" y="34930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3474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374904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Shoppers (12%) show low engagement — most vulnerable to switching. Periodic reactivation campaigns tied to seasonal events or cashback offers are critical to retain them.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24528"/>
            <a:ext cx="8229600" cy="694944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6" name="Shape 24"/>
          <p:cNvSpPr/>
          <p:nvPr/>
        </p:nvSpPr>
        <p:spPr>
          <a:xfrm>
            <a:off x="457200" y="4224528"/>
            <a:ext cx="54864" cy="69494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42793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ROI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34440" y="455371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one-size-fits-all approach is highly ineffective. Seven segments demand seven tailored strategies in product design, communication, pricing, and risk management.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Segment Strategy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recommendations for each of the 7 customer segments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457200" cy="3657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187452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4864" cy="187452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3990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balance-to-limit ratio for default risk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83794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balance transfer promos at competitive rates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" y="227685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large one-off purchases with bonus points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33472" y="1005840"/>
            <a:ext cx="2011680" cy="187452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Shape 10"/>
          <p:cNvSpPr/>
          <p:nvPr/>
        </p:nvSpPr>
        <p:spPr>
          <a:xfrm>
            <a:off x="2633472" y="1005840"/>
            <a:ext cx="54864" cy="1874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2770632" y="1097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70632" y="13990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0% installment offers on large purchases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70632" y="183794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electronics &amp; appliance retailers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70632" y="227685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flexible EMI / buy-now-pay-later options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09744" y="1005840"/>
            <a:ext cx="2011680" cy="187452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8" name="Shape 16"/>
          <p:cNvSpPr/>
          <p:nvPr/>
        </p:nvSpPr>
        <p:spPr>
          <a:xfrm>
            <a:off x="4809744" y="1005840"/>
            <a:ext cx="54864" cy="18745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4946904" y="1097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46904" y="13990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debt restructuring plans to stabilise risk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46904" y="183794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'fresh start' reduced-APR incentive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46904" y="227685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accounts above threshold for proactive outreach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86016" y="1005840"/>
            <a:ext cx="2011680" cy="187452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4" name="Shape 22"/>
          <p:cNvSpPr/>
          <p:nvPr/>
        </p:nvSpPr>
        <p:spPr>
          <a:xfrm>
            <a:off x="6986016" y="1005840"/>
            <a:ext cx="54864" cy="18745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7123176" y="1097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23176" y="13990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in premium rewards program (travel, cashback)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123176" y="183794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offer credit limit upgrades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23176" y="227685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dedicated concierge support to prevent churn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063240"/>
            <a:ext cx="2011680" cy="187452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0" name="Shape 28"/>
          <p:cNvSpPr/>
          <p:nvPr/>
        </p:nvSpPr>
        <p:spPr>
          <a:xfrm>
            <a:off x="457200" y="3063240"/>
            <a:ext cx="54864" cy="18745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1" name="Text 29"/>
          <p:cNvSpPr/>
          <p:nvPr/>
        </p:nvSpPr>
        <p:spPr>
          <a:xfrm>
            <a:off x="594360" y="3154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34564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seasonal reactivation campaigns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94360" y="389534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limited-time cashback to trigger next transaction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4360" y="433425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purchase categories for personalised recommendations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633472" y="3063240"/>
            <a:ext cx="2011680" cy="187452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6" name="Shape 34"/>
          <p:cNvSpPr/>
          <p:nvPr/>
        </p:nvSpPr>
        <p:spPr>
          <a:xfrm>
            <a:off x="2633472" y="3063240"/>
            <a:ext cx="54864" cy="18745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7" name="Text 35"/>
          <p:cNvSpPr/>
          <p:nvPr/>
        </p:nvSpPr>
        <p:spPr>
          <a:xfrm>
            <a:off x="2770632" y="3154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Adv.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70632" y="34564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enhanced credit monitoring &amp; early warnings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770632" y="389534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personal loan alternatives at lower rates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70632" y="433425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increase credit limits without careful review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09744" y="3063240"/>
            <a:ext cx="2011680" cy="187452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55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2" name="Shape 40"/>
          <p:cNvSpPr/>
          <p:nvPr/>
        </p:nvSpPr>
        <p:spPr>
          <a:xfrm>
            <a:off x="4809744" y="3063240"/>
            <a:ext cx="54864" cy="187452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3" name="Text 41"/>
          <p:cNvSpPr/>
          <p:nvPr/>
        </p:nvSpPr>
        <p:spPr>
          <a:xfrm>
            <a:off x="4946904" y="3154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Savers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46904" y="34564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payment discipline with a credit limit upgrade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46904" y="389534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entry-level cashback campaigns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46904" y="433425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8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savings accounts or personal loans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91440" cy="45720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k=7 model — </a:t>
            </a:r>
            <a:r>
              <a:rPr lang="en-US" sz="11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5 independent methods — Elbow, two Silhouette scores, BIC, and t-SNE visual validation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560320"/>
            <a:ext cx="91440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distinct personas — </a:t>
            </a:r>
            <a:r>
              <a:rPr lang="en-US" sz="11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VIP Shoppers to Cash Advance Dependent, each with a unique risk profile and revenue potential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337560"/>
            <a:ext cx="91440" cy="4572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— </a:t>
            </a:r>
            <a:r>
              <a:rPr lang="en-US" sz="11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missing value imputation and log transformation preserved the true distribution of customer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91440" cy="4572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outcomes — </a:t>
            </a:r>
            <a:r>
              <a:rPr lang="en-US" sz="11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 maps to a concrete business strategy — from retention programmes to risk mitigation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754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CC GENERAL · Kaggle  |  Algorithm: Gaussian Mixture Model  |  k = 7  |  Silhouette = 0.439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2107</Words>
  <Application>Microsoft Macintosh PowerPoint</Application>
  <PresentationFormat>On-screen Show (16:9)</PresentationFormat>
  <Paragraphs>471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for Credit Card Customers</dc:title>
  <dc:subject>PptxGenJS Presentation</dc:subject>
  <dc:creator>Customer Analytics</dc:creator>
  <cp:lastModifiedBy>احمد طارق المغاورى عبداللاه</cp:lastModifiedBy>
  <cp:revision>3</cp:revision>
  <dcterms:created xsi:type="dcterms:W3CDTF">2026-03-01T20:55:14Z</dcterms:created>
  <dcterms:modified xsi:type="dcterms:W3CDTF">2026-03-01T21:48:25Z</dcterms:modified>
</cp:coreProperties>
</file>